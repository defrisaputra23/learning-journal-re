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media/image13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66" r:id="rId3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</p:sldIdLst>
  <p:sldSz cx="18288000" cy="10287000"/>
  <p:notesSz cx="6858000" cy="9144000"/>
  <p:embeddedFontLst>
    <p:embeddedFont>
      <p:font typeface="Josefin Sans Bold" panose="00000800000000000000"/>
      <p:bold r:id="rId20"/>
    </p:embeddedFont>
    <p:embeddedFont>
      <p:font typeface="Josefin Sans" panose="00000500000000000000"/>
      <p:regular r:id="rId21"/>
    </p:embeddedFont>
    <p:embeddedFont>
      <p:font typeface="Calibri" panose="020F0502020204030204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font" Target="fonts/font6.fntdata"/><Relationship Id="rId24" Type="http://schemas.openxmlformats.org/officeDocument/2006/relationships/font" Target="fonts/font5.fntdata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SEBUTIN AJA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DI BACA AJA SATU SATU</a:t>
            </a:r>
            <a:endParaRPr lang="en-US"/>
          </a:p>
          <a:p/>
          <a:p>
            <a:r>
              <a:rPr lang="en-US"/>
              <a:t>KALAU MAU DI JELASIN, SINGKAT AJA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0.svg"/><Relationship Id="rId1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4.svg"/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2.svg"/><Relationship Id="rId1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0.svg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62054" y="2053471"/>
            <a:ext cx="6025557" cy="6180059"/>
          </a:xfrm>
          <a:custGeom>
            <a:avLst/>
            <a:gdLst/>
            <a:ahLst/>
            <a:cxnLst/>
            <a:rect l="l" t="t" r="r" b="b"/>
            <a:pathLst>
              <a:path w="6025557" h="6180059">
                <a:moveTo>
                  <a:pt x="0" y="0"/>
                </a:moveTo>
                <a:lnTo>
                  <a:pt x="6025557" y="0"/>
                </a:lnTo>
                <a:lnTo>
                  <a:pt x="6025557" y="6180058"/>
                </a:lnTo>
                <a:lnTo>
                  <a:pt x="0" y="618005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069846" y="3748717"/>
            <a:ext cx="9145225" cy="278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90"/>
              </a:lnSpc>
            </a:pPr>
            <a:r>
              <a:rPr lang="en-US" sz="9155" b="1">
                <a:solidFill>
                  <a:srgbClr val="F7B4A7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STATIC</a:t>
            </a:r>
            <a:endParaRPr lang="en-US" sz="9155" b="1">
              <a:solidFill>
                <a:srgbClr val="F7B4A7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  <a:p>
            <a:pPr algn="l">
              <a:lnSpc>
                <a:spcPts val="10990"/>
              </a:lnSpc>
            </a:pPr>
            <a:r>
              <a:rPr lang="en-US" sz="9155" b="1">
                <a:solidFill>
                  <a:srgbClr val="F7B4A7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ANALYSIS</a:t>
            </a:r>
            <a:endParaRPr lang="en-US" sz="9155" b="1">
              <a:solidFill>
                <a:srgbClr val="F7B4A7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76325" y="2672151"/>
            <a:ext cx="16135350" cy="990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80"/>
              </a:lnSpc>
            </a:pPr>
            <a:r>
              <a:rPr lang="en-US" sz="6400" b="1">
                <a:solidFill>
                  <a:srgbClr val="31356E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Alur Static Analysis</a:t>
            </a:r>
            <a:endParaRPr lang="en-US" sz="6400" b="1">
              <a:solidFill>
                <a:srgbClr val="31356E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632057" y="5179504"/>
            <a:ext cx="2401669" cy="476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b="1" spc="478">
                <a:solidFill>
                  <a:srgbClr val="2B4B82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LANGKAH</a:t>
            </a:r>
            <a:endParaRPr lang="en-US" sz="2800" b="1" spc="478">
              <a:solidFill>
                <a:srgbClr val="2B4B82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4632057" y="5899650"/>
            <a:ext cx="2401669" cy="428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1">
                <a:solidFill>
                  <a:srgbClr val="2B4B82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Analisis String</a:t>
            </a:r>
            <a:endParaRPr lang="en-US" sz="2400" b="1">
              <a:solidFill>
                <a:srgbClr val="2B4B82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71575" y="5179504"/>
            <a:ext cx="2459408" cy="476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b="1" spc="478">
                <a:solidFill>
                  <a:srgbClr val="2B4B82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LANGKAH</a:t>
            </a:r>
            <a:endParaRPr lang="en-US" sz="2800" b="1" spc="478">
              <a:solidFill>
                <a:srgbClr val="2B4B82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71575" y="5895458"/>
            <a:ext cx="2459408" cy="1273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1">
                <a:solidFill>
                  <a:srgbClr val="2B4B82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Identifikasi File, Hash, dan Analisis Header</a:t>
            </a:r>
            <a:endParaRPr lang="en-US" sz="2400" b="1">
              <a:solidFill>
                <a:srgbClr val="2B4B82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866671" y="5179504"/>
            <a:ext cx="2459408" cy="476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b="1" spc="478">
                <a:solidFill>
                  <a:srgbClr val="2B4B82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LANGKAH</a:t>
            </a:r>
            <a:endParaRPr lang="en-US" sz="2800" b="1" spc="478">
              <a:solidFill>
                <a:srgbClr val="2B4B82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866671" y="5899650"/>
            <a:ext cx="2459408" cy="850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1">
                <a:solidFill>
                  <a:srgbClr val="2B4B82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Analisis Import &amp; Library</a:t>
            </a:r>
            <a:endParaRPr lang="en-US" sz="2400" b="1">
              <a:solidFill>
                <a:srgbClr val="2B4B82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314043" y="5179504"/>
            <a:ext cx="2680634" cy="476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b="1" spc="478">
                <a:solidFill>
                  <a:srgbClr val="2B4B82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LANGKAH</a:t>
            </a:r>
            <a:endParaRPr lang="en-US" sz="2800" b="1" spc="478">
              <a:solidFill>
                <a:srgbClr val="2B4B82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314043" y="5899650"/>
            <a:ext cx="2680634" cy="85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1">
                <a:solidFill>
                  <a:srgbClr val="2B4B82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Analis</a:t>
            </a:r>
            <a:r>
              <a:rPr lang="en-US" sz="2400" b="1">
                <a:solidFill>
                  <a:srgbClr val="2B4B82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is Section dan Resource</a:t>
            </a:r>
            <a:endParaRPr lang="en-US" sz="2400" b="1">
              <a:solidFill>
                <a:srgbClr val="2B4B82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4752267" y="5179504"/>
            <a:ext cx="2459408" cy="476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b="1" spc="478">
                <a:solidFill>
                  <a:srgbClr val="2B4B82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LANGKAH</a:t>
            </a:r>
            <a:endParaRPr lang="en-US" sz="2800" b="1" spc="478">
              <a:solidFill>
                <a:srgbClr val="2B4B82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4752267" y="5899650"/>
            <a:ext cx="2459408" cy="1273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1">
                <a:solidFill>
                  <a:srgbClr val="2B4B82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Id</a:t>
            </a:r>
            <a:r>
              <a:rPr lang="en-US" sz="2400" b="1">
                <a:solidFill>
                  <a:srgbClr val="2B4B82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entifikasi IOC (Indicator of Compromise)</a:t>
            </a:r>
            <a:endParaRPr lang="en-US" sz="2400" b="1">
              <a:solidFill>
                <a:srgbClr val="2B4B82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</p:txBody>
      </p:sp>
      <p:grpSp>
        <p:nvGrpSpPr>
          <p:cNvPr id="13" name="Group 13"/>
          <p:cNvGrpSpPr/>
          <p:nvPr/>
        </p:nvGrpSpPr>
        <p:grpSpPr>
          <a:xfrm rot="0">
            <a:off x="2099594" y="4342513"/>
            <a:ext cx="14021736" cy="669290"/>
            <a:chOff x="0" y="0"/>
            <a:chExt cx="18695648" cy="892387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104775"/>
              <a:ext cx="804493" cy="9971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160"/>
                </a:lnSpc>
              </a:pPr>
              <a:r>
                <a:rPr lang="en-US" sz="4400" b="1" spc="752">
                  <a:solidFill>
                    <a:srgbClr val="2B4B82"/>
                  </a:solidFill>
                  <a:latin typeface="Josefin Sans Bold" panose="00000800000000000000"/>
                  <a:ea typeface="Josefin Sans Bold" panose="00000800000000000000"/>
                  <a:cs typeface="Josefin Sans Bold" panose="00000800000000000000"/>
                  <a:sym typeface="Josefin Sans Bold" panose="00000800000000000000"/>
                </a:rPr>
                <a:t>1</a:t>
              </a:r>
              <a:endParaRPr lang="en-US" sz="4400" b="1" spc="752">
                <a:solidFill>
                  <a:srgbClr val="2B4B82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75484" y="-104775"/>
              <a:ext cx="804493" cy="9971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160"/>
                </a:lnSpc>
              </a:pPr>
              <a:r>
                <a:rPr lang="en-US" sz="4400" b="1" spc="752">
                  <a:solidFill>
                    <a:srgbClr val="2B4B82"/>
                  </a:solidFill>
                  <a:latin typeface="Josefin Sans Bold" panose="00000800000000000000"/>
                  <a:ea typeface="Josefin Sans Bold" panose="00000800000000000000"/>
                  <a:cs typeface="Josefin Sans Bold" panose="00000800000000000000"/>
                  <a:sym typeface="Josefin Sans Bold" panose="00000800000000000000"/>
                </a:rPr>
                <a:t>2</a:t>
              </a:r>
              <a:endParaRPr lang="en-US" sz="4400" b="1" spc="752">
                <a:solidFill>
                  <a:srgbClr val="2B4B82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926794" y="-104775"/>
              <a:ext cx="804493" cy="9971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160"/>
                </a:lnSpc>
              </a:pPr>
              <a:r>
                <a:rPr lang="en-US" sz="4400" b="1" spc="752">
                  <a:solidFill>
                    <a:srgbClr val="2B4B82"/>
                  </a:solidFill>
                  <a:latin typeface="Josefin Sans Bold" panose="00000800000000000000"/>
                  <a:ea typeface="Josefin Sans Bold" panose="00000800000000000000"/>
                  <a:cs typeface="Josefin Sans Bold" panose="00000800000000000000"/>
                  <a:sym typeface="Josefin Sans Bold" panose="00000800000000000000"/>
                </a:rPr>
                <a:t>3</a:t>
              </a:r>
              <a:endParaRPr lang="en-US" sz="4400" b="1" spc="752">
                <a:solidFill>
                  <a:srgbClr val="2B4B82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670775" y="-104775"/>
              <a:ext cx="804493" cy="9971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160"/>
                </a:lnSpc>
              </a:pPr>
              <a:r>
                <a:rPr lang="en-US" sz="4400" b="1" spc="752">
                  <a:solidFill>
                    <a:srgbClr val="2B4B82"/>
                  </a:solidFill>
                  <a:latin typeface="Josefin Sans Bold" panose="00000800000000000000"/>
                  <a:ea typeface="Josefin Sans Bold" panose="00000800000000000000"/>
                  <a:cs typeface="Josefin Sans Bold" panose="00000800000000000000"/>
                  <a:sym typeface="Josefin Sans Bold" panose="00000800000000000000"/>
                </a:rPr>
                <a:t>4</a:t>
              </a:r>
              <a:endParaRPr lang="en-US" sz="4400" b="1" spc="752">
                <a:solidFill>
                  <a:srgbClr val="2B4B82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891155" y="-104775"/>
              <a:ext cx="804493" cy="9971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160"/>
                </a:lnSpc>
              </a:pPr>
              <a:r>
                <a:rPr lang="en-US" sz="4400" b="1" spc="752">
                  <a:solidFill>
                    <a:srgbClr val="2B4B82"/>
                  </a:solidFill>
                  <a:latin typeface="Josefin Sans Bold" panose="00000800000000000000"/>
                  <a:ea typeface="Josefin Sans Bold" panose="00000800000000000000"/>
                  <a:cs typeface="Josefin Sans Bold" panose="00000800000000000000"/>
                  <a:sym typeface="Josefin Sans Bold" panose="00000800000000000000"/>
                </a:rPr>
                <a:t>5</a:t>
              </a:r>
              <a:endParaRPr lang="en-US" sz="4400" b="1" spc="752">
                <a:solidFill>
                  <a:srgbClr val="2B4B82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endParaRPr>
            </a:p>
          </p:txBody>
        </p:sp>
        <p:sp>
          <p:nvSpPr>
            <p:cNvPr id="19" name="AutoShape 19"/>
            <p:cNvSpPr/>
            <p:nvPr/>
          </p:nvSpPr>
          <p:spPr>
            <a:xfrm>
              <a:off x="804493" y="395393"/>
              <a:ext cx="3529461" cy="0"/>
            </a:xfrm>
            <a:prstGeom prst="line">
              <a:avLst/>
            </a:prstGeom>
            <a:ln w="38100" cap="flat">
              <a:solidFill>
                <a:srgbClr val="2B4B82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0" name="AutoShape 20"/>
            <p:cNvSpPr/>
            <p:nvPr/>
          </p:nvSpPr>
          <p:spPr>
            <a:xfrm>
              <a:off x="5397334" y="382693"/>
              <a:ext cx="3529461" cy="0"/>
            </a:xfrm>
            <a:prstGeom prst="line">
              <a:avLst/>
            </a:prstGeom>
            <a:ln w="38100" cap="flat">
              <a:solidFill>
                <a:srgbClr val="2B4B82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1" name="AutoShape 21"/>
            <p:cNvSpPr/>
            <p:nvPr/>
          </p:nvSpPr>
          <p:spPr>
            <a:xfrm>
              <a:off x="9980379" y="382693"/>
              <a:ext cx="3529461" cy="0"/>
            </a:xfrm>
            <a:prstGeom prst="line">
              <a:avLst/>
            </a:prstGeom>
            <a:ln w="38100" cap="flat">
              <a:solidFill>
                <a:srgbClr val="2B4B82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2" name="AutoShape 22"/>
            <p:cNvSpPr/>
            <p:nvPr/>
          </p:nvSpPr>
          <p:spPr>
            <a:xfrm>
              <a:off x="14361695" y="382693"/>
              <a:ext cx="3529461" cy="0"/>
            </a:xfrm>
            <a:prstGeom prst="line">
              <a:avLst/>
            </a:prstGeom>
            <a:ln w="38100" cap="flat">
              <a:solidFill>
                <a:srgbClr val="2B4B82"/>
              </a:solidFill>
              <a:prstDash val="solid"/>
              <a:headEnd type="none" w="sm" len="sm"/>
              <a:tailEnd type="none" w="sm" len="sm"/>
            </a:ln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B4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133977"/>
            <a:ext cx="10102712" cy="1881630"/>
          </a:xfrm>
          <a:custGeom>
            <a:avLst/>
            <a:gdLst/>
            <a:ahLst/>
            <a:cxnLst/>
            <a:rect l="l" t="t" r="r" b="b"/>
            <a:pathLst>
              <a:path w="10102712" h="1881630">
                <a:moveTo>
                  <a:pt x="0" y="0"/>
                </a:moveTo>
                <a:lnTo>
                  <a:pt x="10102712" y="0"/>
                </a:lnTo>
                <a:lnTo>
                  <a:pt x="10102712" y="1881631"/>
                </a:lnTo>
                <a:lnTo>
                  <a:pt x="0" y="188163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4139433"/>
            <a:ext cx="6329357" cy="5118867"/>
          </a:xfrm>
          <a:custGeom>
            <a:avLst/>
            <a:gdLst/>
            <a:ahLst/>
            <a:cxnLst/>
            <a:rect l="l" t="t" r="r" b="b"/>
            <a:pathLst>
              <a:path w="6329357" h="5118867">
                <a:moveTo>
                  <a:pt x="0" y="0"/>
                </a:moveTo>
                <a:lnTo>
                  <a:pt x="6329357" y="0"/>
                </a:lnTo>
                <a:lnTo>
                  <a:pt x="6329357" y="5118867"/>
                </a:lnTo>
                <a:lnTo>
                  <a:pt x="0" y="51188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506022" y="4139433"/>
            <a:ext cx="6859659" cy="5118867"/>
          </a:xfrm>
          <a:custGeom>
            <a:avLst/>
            <a:gdLst/>
            <a:ahLst/>
            <a:cxnLst/>
            <a:rect l="l" t="t" r="r" b="b"/>
            <a:pathLst>
              <a:path w="6859659" h="5118867">
                <a:moveTo>
                  <a:pt x="0" y="0"/>
                </a:moveTo>
                <a:lnTo>
                  <a:pt x="6859659" y="0"/>
                </a:lnTo>
                <a:lnTo>
                  <a:pt x="6859659" y="5118867"/>
                </a:lnTo>
                <a:lnTo>
                  <a:pt x="0" y="51188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022098" y="2133977"/>
            <a:ext cx="1960031" cy="1881630"/>
          </a:xfrm>
          <a:custGeom>
            <a:avLst/>
            <a:gdLst/>
            <a:ahLst/>
            <a:cxnLst/>
            <a:rect l="l" t="t" r="r" b="b"/>
            <a:pathLst>
              <a:path w="1960031" h="1881630">
                <a:moveTo>
                  <a:pt x="0" y="0"/>
                </a:moveTo>
                <a:lnTo>
                  <a:pt x="1960032" y="0"/>
                </a:lnTo>
                <a:lnTo>
                  <a:pt x="1960032" y="1881631"/>
                </a:lnTo>
                <a:lnTo>
                  <a:pt x="0" y="18816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1162050"/>
            <a:ext cx="4966805" cy="501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0"/>
              </a:lnSpc>
            </a:pPr>
            <a:r>
              <a:rPr lang="en-US" sz="4200" b="1" spc="-42">
                <a:solidFill>
                  <a:srgbClr val="2B4B82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Alur Static Analysis</a:t>
            </a:r>
            <a:endParaRPr lang="en-US" sz="4200" b="1" spc="-42">
              <a:solidFill>
                <a:srgbClr val="2B4B82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1532924"/>
            <a:ext cx="7595682" cy="480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1">
                <a:solidFill>
                  <a:srgbClr val="2B4B82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1.Identifikasi File, Hash, dan Analisis Header</a:t>
            </a:r>
            <a:endParaRPr lang="en-US" sz="2800" b="1">
              <a:solidFill>
                <a:srgbClr val="2B4B82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B4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39506" y="3012796"/>
            <a:ext cx="5301907" cy="4261407"/>
          </a:xfrm>
          <a:custGeom>
            <a:avLst/>
            <a:gdLst/>
            <a:ahLst/>
            <a:cxnLst/>
            <a:rect l="l" t="t" r="r" b="b"/>
            <a:pathLst>
              <a:path w="5301907" h="4261407">
                <a:moveTo>
                  <a:pt x="0" y="0"/>
                </a:moveTo>
                <a:lnTo>
                  <a:pt x="5301907" y="0"/>
                </a:lnTo>
                <a:lnTo>
                  <a:pt x="5301907" y="4261408"/>
                </a:lnTo>
                <a:lnTo>
                  <a:pt x="0" y="426140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958120" y="3012796"/>
            <a:ext cx="4842508" cy="4261407"/>
          </a:xfrm>
          <a:custGeom>
            <a:avLst/>
            <a:gdLst/>
            <a:ahLst/>
            <a:cxnLst/>
            <a:rect l="l" t="t" r="r" b="b"/>
            <a:pathLst>
              <a:path w="4842508" h="4261407">
                <a:moveTo>
                  <a:pt x="0" y="0"/>
                </a:moveTo>
                <a:lnTo>
                  <a:pt x="4842508" y="0"/>
                </a:lnTo>
                <a:lnTo>
                  <a:pt x="4842508" y="4261408"/>
                </a:lnTo>
                <a:lnTo>
                  <a:pt x="0" y="42614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019703" y="3012796"/>
            <a:ext cx="4828790" cy="4261407"/>
          </a:xfrm>
          <a:custGeom>
            <a:avLst/>
            <a:gdLst/>
            <a:ahLst/>
            <a:cxnLst/>
            <a:rect l="l" t="t" r="r" b="b"/>
            <a:pathLst>
              <a:path w="4828790" h="4261407">
                <a:moveTo>
                  <a:pt x="0" y="0"/>
                </a:moveTo>
                <a:lnTo>
                  <a:pt x="4828791" y="0"/>
                </a:lnTo>
                <a:lnTo>
                  <a:pt x="4828791" y="4261408"/>
                </a:lnTo>
                <a:lnTo>
                  <a:pt x="0" y="42614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162050"/>
            <a:ext cx="4966805" cy="501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0"/>
              </a:lnSpc>
            </a:pPr>
            <a:r>
              <a:rPr lang="en-US" sz="4200" b="1" spc="-42">
                <a:solidFill>
                  <a:srgbClr val="2B4B82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Alur Static Analysis</a:t>
            </a:r>
            <a:endParaRPr lang="en-US" sz="4200" b="1" spc="-42">
              <a:solidFill>
                <a:srgbClr val="2B4B82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1532924"/>
            <a:ext cx="2796379" cy="480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1">
                <a:solidFill>
                  <a:srgbClr val="2B4B82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2.Analisis String</a:t>
            </a:r>
            <a:endParaRPr lang="en-US" sz="2800" b="1">
              <a:solidFill>
                <a:srgbClr val="2B4B82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B4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092429"/>
            <a:ext cx="8286523" cy="4733676"/>
          </a:xfrm>
          <a:custGeom>
            <a:avLst/>
            <a:gdLst/>
            <a:ahLst/>
            <a:cxnLst/>
            <a:rect l="l" t="t" r="r" b="b"/>
            <a:pathLst>
              <a:path w="8286523" h="4733676">
                <a:moveTo>
                  <a:pt x="0" y="0"/>
                </a:moveTo>
                <a:lnTo>
                  <a:pt x="8286523" y="0"/>
                </a:lnTo>
                <a:lnTo>
                  <a:pt x="8286523" y="4733676"/>
                </a:lnTo>
                <a:lnTo>
                  <a:pt x="0" y="473367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6902305"/>
            <a:ext cx="3077771" cy="2373731"/>
          </a:xfrm>
          <a:custGeom>
            <a:avLst/>
            <a:gdLst/>
            <a:ahLst/>
            <a:cxnLst/>
            <a:rect l="l" t="t" r="r" b="b"/>
            <a:pathLst>
              <a:path w="3077771" h="2373731">
                <a:moveTo>
                  <a:pt x="0" y="0"/>
                </a:moveTo>
                <a:lnTo>
                  <a:pt x="3077771" y="0"/>
                </a:lnTo>
                <a:lnTo>
                  <a:pt x="3077771" y="2373730"/>
                </a:lnTo>
                <a:lnTo>
                  <a:pt x="0" y="23737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1162050"/>
            <a:ext cx="4966805" cy="501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0"/>
              </a:lnSpc>
            </a:pPr>
            <a:r>
              <a:rPr lang="en-US" sz="4200" b="1" spc="-42">
                <a:solidFill>
                  <a:srgbClr val="2B4B82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Alur Static Analysis</a:t>
            </a:r>
            <a:endParaRPr lang="en-US" sz="4200" b="1" spc="-42">
              <a:solidFill>
                <a:srgbClr val="2B4B82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1532924"/>
            <a:ext cx="4576449" cy="480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1">
                <a:solidFill>
                  <a:srgbClr val="2B4B82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3.Analisis Import &amp; Library</a:t>
            </a:r>
            <a:endParaRPr lang="en-US" sz="2800" b="1">
              <a:solidFill>
                <a:srgbClr val="2B4B82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459958" y="2035279"/>
            <a:ext cx="7799342" cy="6132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sz="2315" b="1">
                <a:solidFill>
                  <a:srgbClr val="1E2F3F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K</a:t>
            </a:r>
            <a:r>
              <a:rPr lang="en-US" sz="2315" b="1">
                <a:solidFill>
                  <a:srgbClr val="1E2F3F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ERNEL32.dll</a:t>
            </a:r>
            <a:endParaRPr lang="en-US" sz="2315" b="1">
              <a:solidFill>
                <a:srgbClr val="1E2F3F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sz="2315" b="1">
                <a:solidFill>
                  <a:srgbClr val="2B4B82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Digunakan untuk fungsi dasar sistem Windows seperti manajemen file, memory, process, dan thread.</a:t>
            </a:r>
            <a:endParaRPr lang="en-US" sz="2315" b="1">
              <a:solidFill>
                <a:srgbClr val="2B4B82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  <a:p>
            <a:pPr algn="l">
              <a:lnSpc>
                <a:spcPts val="3240"/>
              </a:lnSpc>
              <a:spcBef>
                <a:spcPct val="0"/>
              </a:spcBef>
            </a:pPr>
          </a:p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sz="2315" b="1">
                <a:solidFill>
                  <a:srgbClr val="1E2F3F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USER32.dll</a:t>
            </a:r>
            <a:endParaRPr lang="en-US" sz="2315" b="1">
              <a:solidFill>
                <a:srgbClr val="1E2F3F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sz="2315" b="1">
                <a:solidFill>
                  <a:srgbClr val="2B4B82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Digunakan untuk interaksi antarmuka Windows seperti window, keyboard, mouse, dan message box.</a:t>
            </a:r>
            <a:endParaRPr lang="en-US" sz="2315" b="1">
              <a:solidFill>
                <a:srgbClr val="2B4B82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  <a:p>
            <a:pPr algn="l">
              <a:lnSpc>
                <a:spcPts val="3240"/>
              </a:lnSpc>
              <a:spcBef>
                <a:spcPct val="0"/>
              </a:spcBef>
            </a:pPr>
          </a:p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sz="2315" b="1">
                <a:solidFill>
                  <a:srgbClr val="1E2F3F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ADVAPI32.dll</a:t>
            </a:r>
            <a:endParaRPr lang="en-US" sz="2315" b="1">
              <a:solidFill>
                <a:srgbClr val="1E2F3F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sz="2315" b="1">
                <a:solidFill>
                  <a:srgbClr val="2B4B82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Digunakan untuk registry, service Windows, keamanan sistem, dan hak akses pengguna.</a:t>
            </a:r>
            <a:endParaRPr lang="en-US" sz="2315" b="1">
              <a:solidFill>
                <a:srgbClr val="2B4B82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  <a:p>
            <a:pPr algn="l">
              <a:lnSpc>
                <a:spcPts val="3240"/>
              </a:lnSpc>
              <a:spcBef>
                <a:spcPct val="0"/>
              </a:spcBef>
            </a:pPr>
          </a:p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sz="2315" b="1">
                <a:solidFill>
                  <a:srgbClr val="1E2F3F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MSVCRT.dll</a:t>
            </a:r>
            <a:endParaRPr lang="en-US" sz="2315" b="1">
              <a:solidFill>
                <a:srgbClr val="1E2F3F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sz="2315" b="1">
                <a:solidFill>
                  <a:srgbClr val="2B4B82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 Library runtime bahasa C yang berisi fungsi standar seperti fopen, fread, fwrite, dan operasi memori.</a:t>
            </a:r>
            <a:endParaRPr lang="en-US" sz="2315" b="1">
              <a:solidFill>
                <a:srgbClr val="2B4B82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B4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769516"/>
            <a:ext cx="4355048" cy="3881437"/>
          </a:xfrm>
          <a:custGeom>
            <a:avLst/>
            <a:gdLst/>
            <a:ahLst/>
            <a:cxnLst/>
            <a:rect l="l" t="t" r="r" b="b"/>
            <a:pathLst>
              <a:path w="4355048" h="3881437">
                <a:moveTo>
                  <a:pt x="0" y="0"/>
                </a:moveTo>
                <a:lnTo>
                  <a:pt x="4355048" y="0"/>
                </a:lnTo>
                <a:lnTo>
                  <a:pt x="4355048" y="3881437"/>
                </a:lnTo>
                <a:lnTo>
                  <a:pt x="0" y="3881437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5750269"/>
            <a:ext cx="4355048" cy="3783448"/>
          </a:xfrm>
          <a:custGeom>
            <a:avLst/>
            <a:gdLst/>
            <a:ahLst/>
            <a:cxnLst/>
            <a:rect l="l" t="t" r="r" b="b"/>
            <a:pathLst>
              <a:path w="4355048" h="3783448">
                <a:moveTo>
                  <a:pt x="0" y="0"/>
                </a:moveTo>
                <a:lnTo>
                  <a:pt x="4355048" y="0"/>
                </a:lnTo>
                <a:lnTo>
                  <a:pt x="4355048" y="3783448"/>
                </a:lnTo>
                <a:lnTo>
                  <a:pt x="0" y="37834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886633"/>
            <a:ext cx="4966805" cy="501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0"/>
              </a:lnSpc>
            </a:pPr>
            <a:r>
              <a:rPr lang="en-US" sz="4200" b="1" spc="-42">
                <a:solidFill>
                  <a:srgbClr val="2B4B82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Alur Static Analysis</a:t>
            </a:r>
            <a:endParaRPr lang="en-US" sz="4200" b="1" spc="-42">
              <a:solidFill>
                <a:srgbClr val="2B4B82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1238456"/>
            <a:ext cx="7595682" cy="499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1">
                <a:solidFill>
                  <a:srgbClr val="2B4B82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4.Analisis Section dan Resource</a:t>
            </a:r>
            <a:endParaRPr lang="en-US" sz="2800" b="1">
              <a:solidFill>
                <a:srgbClr val="2B4B82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660814" y="2077491"/>
            <a:ext cx="2574607" cy="1317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3A271A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CreateServiceA()</a:t>
            </a:r>
            <a:endParaRPr lang="en-US" sz="2500" b="1">
              <a:solidFill>
                <a:srgbClr val="3A271A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3A271A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OpenServiceA()</a:t>
            </a:r>
            <a:endParaRPr lang="en-US" sz="2500" b="1">
              <a:solidFill>
                <a:srgbClr val="3A271A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3A271A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StartServiceA()</a:t>
            </a:r>
            <a:endParaRPr lang="en-US" sz="2500" b="1">
              <a:solidFill>
                <a:srgbClr val="3A271A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654305" y="3357016"/>
            <a:ext cx="5652135" cy="175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9C8CE4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Malware memiliki kemampuan untuk:</a:t>
            </a:r>
            <a:endParaRPr lang="en-US" sz="2500" b="1">
              <a:solidFill>
                <a:srgbClr val="9C8CE4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3A271A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membuat service baru,</a:t>
            </a:r>
            <a:endParaRPr lang="en-US" sz="2500" b="1">
              <a:solidFill>
                <a:srgbClr val="3A271A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3A271A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membuka service Windows,</a:t>
            </a:r>
            <a:endParaRPr lang="en-US" sz="2500" b="1">
              <a:solidFill>
                <a:srgbClr val="3A271A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3A271A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menjalankan service secara otomatis.</a:t>
            </a:r>
            <a:endParaRPr lang="en-US" sz="2500" b="1">
              <a:solidFill>
                <a:srgbClr val="3A271A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654305" y="1702841"/>
            <a:ext cx="1293812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9C8CE4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Function</a:t>
            </a:r>
            <a:endParaRPr lang="en-US" sz="2500" b="1">
              <a:solidFill>
                <a:srgbClr val="9C8CE4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667323" y="6058244"/>
            <a:ext cx="1135380" cy="1317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3A271A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fop</a:t>
            </a:r>
            <a:r>
              <a:rPr lang="en-US" sz="2500" b="1">
                <a:solidFill>
                  <a:srgbClr val="3A271A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en()</a:t>
            </a:r>
            <a:endParaRPr lang="en-US" sz="2500" b="1">
              <a:solidFill>
                <a:srgbClr val="3A271A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3A271A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fread()</a:t>
            </a:r>
            <a:endParaRPr lang="en-US" sz="2500" b="1">
              <a:solidFill>
                <a:srgbClr val="3A271A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3A271A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fwrite()</a:t>
            </a:r>
            <a:endParaRPr lang="en-US" sz="2500" b="1">
              <a:solidFill>
                <a:srgbClr val="3A271A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660814" y="5683594"/>
            <a:ext cx="1293812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9C8CE4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Function</a:t>
            </a:r>
            <a:endParaRPr lang="en-US" sz="2500" b="1">
              <a:solidFill>
                <a:srgbClr val="9C8CE4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667323" y="7575318"/>
            <a:ext cx="5537518" cy="175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9C8CE4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Function digunakan untuk:</a:t>
            </a:r>
            <a:endParaRPr lang="en-US" sz="2500" b="1">
              <a:solidFill>
                <a:srgbClr val="9C8CE4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00000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menyimpan data malware,</a:t>
            </a:r>
            <a:endParaRPr lang="en-US" sz="2500" b="1">
              <a:solidFill>
                <a:srgbClr val="000000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00000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membaca konfigurasi,</a:t>
            </a:r>
            <a:endParaRPr lang="en-US" sz="2500" b="1">
              <a:solidFill>
                <a:srgbClr val="000000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00000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atau menyimpan status ransomware.</a:t>
            </a:r>
            <a:endParaRPr lang="en-US" sz="2500" b="1">
              <a:solidFill>
                <a:srgbClr val="000000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B4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11380" y="4617239"/>
            <a:ext cx="5301907" cy="4261407"/>
          </a:xfrm>
          <a:custGeom>
            <a:avLst/>
            <a:gdLst/>
            <a:ahLst/>
            <a:cxnLst/>
            <a:rect l="l" t="t" r="r" b="b"/>
            <a:pathLst>
              <a:path w="5301907" h="4261407">
                <a:moveTo>
                  <a:pt x="0" y="0"/>
                </a:moveTo>
                <a:lnTo>
                  <a:pt x="5301906" y="0"/>
                </a:lnTo>
                <a:lnTo>
                  <a:pt x="5301906" y="4261408"/>
                </a:lnTo>
                <a:lnTo>
                  <a:pt x="0" y="426140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770436" y="4617239"/>
            <a:ext cx="4488864" cy="4261407"/>
          </a:xfrm>
          <a:custGeom>
            <a:avLst/>
            <a:gdLst/>
            <a:ahLst/>
            <a:cxnLst/>
            <a:rect l="l" t="t" r="r" b="b"/>
            <a:pathLst>
              <a:path w="4488864" h="4261407">
                <a:moveTo>
                  <a:pt x="0" y="0"/>
                </a:moveTo>
                <a:lnTo>
                  <a:pt x="4488864" y="0"/>
                </a:lnTo>
                <a:lnTo>
                  <a:pt x="4488864" y="4261408"/>
                </a:lnTo>
                <a:lnTo>
                  <a:pt x="0" y="42614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6516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4617239"/>
            <a:ext cx="6321951" cy="3909155"/>
          </a:xfrm>
          <a:custGeom>
            <a:avLst/>
            <a:gdLst/>
            <a:ahLst/>
            <a:cxnLst/>
            <a:rect l="l" t="t" r="r" b="b"/>
            <a:pathLst>
              <a:path w="6321951" h="3909155">
                <a:moveTo>
                  <a:pt x="0" y="0"/>
                </a:moveTo>
                <a:lnTo>
                  <a:pt x="6321951" y="0"/>
                </a:lnTo>
                <a:lnTo>
                  <a:pt x="6321951" y="3909156"/>
                </a:lnTo>
                <a:lnTo>
                  <a:pt x="0" y="39091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824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777972" y="1222440"/>
            <a:ext cx="2769000" cy="2866954"/>
          </a:xfrm>
          <a:custGeom>
            <a:avLst/>
            <a:gdLst/>
            <a:ahLst/>
            <a:cxnLst/>
            <a:rect l="l" t="t" r="r" b="b"/>
            <a:pathLst>
              <a:path w="2769000" h="2866954">
                <a:moveTo>
                  <a:pt x="0" y="0"/>
                </a:moveTo>
                <a:lnTo>
                  <a:pt x="2769000" y="0"/>
                </a:lnTo>
                <a:lnTo>
                  <a:pt x="2769000" y="2866954"/>
                </a:lnTo>
                <a:lnTo>
                  <a:pt x="0" y="28669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270760" y="1407586"/>
            <a:ext cx="2567831" cy="2681808"/>
          </a:xfrm>
          <a:custGeom>
            <a:avLst/>
            <a:gdLst/>
            <a:ahLst/>
            <a:cxnLst/>
            <a:rect l="l" t="t" r="r" b="b"/>
            <a:pathLst>
              <a:path w="2567831" h="2681808">
                <a:moveTo>
                  <a:pt x="0" y="0"/>
                </a:moveTo>
                <a:lnTo>
                  <a:pt x="2567831" y="0"/>
                </a:lnTo>
                <a:lnTo>
                  <a:pt x="2567831" y="2681808"/>
                </a:lnTo>
                <a:lnTo>
                  <a:pt x="0" y="26818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1162050"/>
            <a:ext cx="4966805" cy="501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0"/>
              </a:lnSpc>
            </a:pPr>
            <a:r>
              <a:rPr lang="en-US" sz="4200" b="1" spc="-42">
                <a:solidFill>
                  <a:srgbClr val="2B4B82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Alur Static Analysis</a:t>
            </a:r>
            <a:endParaRPr lang="en-US" sz="4200" b="1" spc="-42">
              <a:solidFill>
                <a:srgbClr val="2B4B82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1532924"/>
            <a:ext cx="7595682" cy="480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1">
                <a:solidFill>
                  <a:srgbClr val="2B4B82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5.Identifikasi IOC (Indicator of Compromise)</a:t>
            </a:r>
            <a:endParaRPr lang="en-US" sz="2800" b="1">
              <a:solidFill>
                <a:srgbClr val="2B4B82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2598767"/>
            <a:ext cx="6382680" cy="1380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5"/>
              </a:lnSpc>
              <a:spcBef>
                <a:spcPct val="0"/>
              </a:spcBef>
            </a:pPr>
            <a:r>
              <a:rPr lang="en-US" sz="2610" b="1">
                <a:solidFill>
                  <a:srgbClr val="2B4B82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Malware menunjukkan perilaku ransomware dengan kemampuan persistence dan manipulasi file sistem.</a:t>
            </a:r>
            <a:endParaRPr lang="en-US" sz="2610" b="1">
              <a:solidFill>
                <a:srgbClr val="2B4B82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11111" y="2334895"/>
            <a:ext cx="7312717" cy="5798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20"/>
              </a:lnSpc>
            </a:pPr>
            <a:r>
              <a:rPr lang="en-US" sz="8000" b="1" spc="-88">
                <a:solidFill>
                  <a:srgbClr val="2B4B82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LANJUT????</a:t>
            </a:r>
            <a:endParaRPr lang="en-US" sz="8000" b="1" spc="-88">
              <a:solidFill>
                <a:srgbClr val="2B4B82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  <a:p>
            <a:pPr algn="ctr">
              <a:lnSpc>
                <a:spcPts val="7520"/>
              </a:lnSpc>
            </a:pPr>
          </a:p>
          <a:p>
            <a:pPr algn="ctr">
              <a:lnSpc>
                <a:spcPts val="7520"/>
              </a:lnSpc>
            </a:pPr>
            <a:r>
              <a:rPr lang="en-US" sz="8000" b="1" spc="-88">
                <a:solidFill>
                  <a:srgbClr val="2B4B82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SETELAH ANALISIS GIMANA BANG???</a:t>
            </a:r>
            <a:endParaRPr lang="en-US" sz="8000" b="1" spc="-88">
              <a:solidFill>
                <a:srgbClr val="2B4B82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9854137" y="3018272"/>
            <a:ext cx="7411325" cy="4635447"/>
          </a:xfrm>
          <a:custGeom>
            <a:avLst/>
            <a:gdLst/>
            <a:ahLst/>
            <a:cxnLst/>
            <a:rect l="l" t="t" r="r" b="b"/>
            <a:pathLst>
              <a:path w="7411325" h="4635447">
                <a:moveTo>
                  <a:pt x="0" y="0"/>
                </a:moveTo>
                <a:lnTo>
                  <a:pt x="7411325" y="0"/>
                </a:lnTo>
                <a:lnTo>
                  <a:pt x="7411325" y="4635447"/>
                </a:lnTo>
                <a:lnTo>
                  <a:pt x="0" y="4635447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665100" y="8613636"/>
            <a:ext cx="4338720" cy="2713672"/>
          </a:xfrm>
          <a:custGeom>
            <a:avLst/>
            <a:gdLst/>
            <a:ahLst/>
            <a:cxnLst/>
            <a:rect l="l" t="t" r="r" b="b"/>
            <a:pathLst>
              <a:path w="4338720" h="2713672">
                <a:moveTo>
                  <a:pt x="0" y="0"/>
                </a:moveTo>
                <a:lnTo>
                  <a:pt x="4338720" y="0"/>
                </a:lnTo>
                <a:lnTo>
                  <a:pt x="4338720" y="2713671"/>
                </a:lnTo>
                <a:lnTo>
                  <a:pt x="0" y="271367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976014" y="7483497"/>
            <a:ext cx="3289448" cy="2057400"/>
          </a:xfrm>
          <a:custGeom>
            <a:avLst/>
            <a:gdLst/>
            <a:ahLst/>
            <a:cxnLst/>
            <a:rect l="l" t="t" r="r" b="b"/>
            <a:pathLst>
              <a:path w="3289448" h="2057400">
                <a:moveTo>
                  <a:pt x="0" y="0"/>
                </a:moveTo>
                <a:lnTo>
                  <a:pt x="3289448" y="0"/>
                </a:lnTo>
                <a:lnTo>
                  <a:pt x="328944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320348" y="712171"/>
            <a:ext cx="3289448" cy="2057400"/>
          </a:xfrm>
          <a:custGeom>
            <a:avLst/>
            <a:gdLst/>
            <a:ahLst/>
            <a:cxnLst/>
            <a:rect l="l" t="t" r="r" b="b"/>
            <a:pathLst>
              <a:path w="3289448" h="2057400">
                <a:moveTo>
                  <a:pt x="0" y="0"/>
                </a:moveTo>
                <a:lnTo>
                  <a:pt x="3289448" y="0"/>
                </a:lnTo>
                <a:lnTo>
                  <a:pt x="328944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187452" y="1394747"/>
            <a:ext cx="7079577" cy="4720402"/>
            <a:chOff x="0" y="0"/>
            <a:chExt cx="9439436" cy="6293869"/>
          </a:xfrm>
        </p:grpSpPr>
        <p:sp>
          <p:nvSpPr>
            <p:cNvPr id="3" name="TextBox 3"/>
            <p:cNvSpPr txBox="1"/>
            <p:nvPr/>
          </p:nvSpPr>
          <p:spPr>
            <a:xfrm>
              <a:off x="0" y="-19050"/>
              <a:ext cx="9439436" cy="39051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680"/>
                </a:lnSpc>
              </a:pPr>
              <a:r>
                <a:rPr lang="en-US" sz="6400" b="1">
                  <a:solidFill>
                    <a:srgbClr val="94DDDE"/>
                  </a:solidFill>
                  <a:latin typeface="Josefin Sans Bold" panose="00000800000000000000"/>
                  <a:ea typeface="Josefin Sans Bold" panose="00000800000000000000"/>
                  <a:cs typeface="Josefin Sans Bold" panose="00000800000000000000"/>
                  <a:sym typeface="Josefin Sans Bold" panose="00000800000000000000"/>
                </a:rPr>
                <a:t>KLASIFIKASI</a:t>
              </a:r>
              <a:endParaRPr lang="en-US" sz="6400" b="1">
                <a:solidFill>
                  <a:srgbClr val="94DDDE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endParaRPr>
            </a:p>
            <a:p>
              <a:pPr algn="l">
                <a:lnSpc>
                  <a:spcPts val="7680"/>
                </a:lnSpc>
              </a:pPr>
              <a:r>
                <a:rPr lang="en-US" sz="6400" b="1">
                  <a:solidFill>
                    <a:srgbClr val="94DDDE"/>
                  </a:solidFill>
                  <a:latin typeface="Josefin Sans Bold" panose="00000800000000000000"/>
                  <a:ea typeface="Josefin Sans Bold" panose="00000800000000000000"/>
                  <a:cs typeface="Josefin Sans Bold" panose="00000800000000000000"/>
                  <a:sym typeface="Josefin Sans Bold" panose="00000800000000000000"/>
                </a:rPr>
                <a:t>&amp;</a:t>
              </a:r>
              <a:endParaRPr lang="en-US" sz="6400" b="1">
                <a:solidFill>
                  <a:srgbClr val="94DDDE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endParaRPr>
            </a:p>
            <a:p>
              <a:pPr algn="l">
                <a:lnSpc>
                  <a:spcPts val="7680"/>
                </a:lnSpc>
              </a:pPr>
              <a:r>
                <a:rPr lang="en-US" sz="6400" b="1">
                  <a:solidFill>
                    <a:srgbClr val="94DDDE"/>
                  </a:solidFill>
                  <a:latin typeface="Josefin Sans Bold" panose="00000800000000000000"/>
                  <a:ea typeface="Josefin Sans Bold" panose="00000800000000000000"/>
                  <a:cs typeface="Josefin Sans Bold" panose="00000800000000000000"/>
                  <a:sym typeface="Josefin Sans Bold" panose="00000800000000000000"/>
                </a:rPr>
                <a:t>LABELING</a:t>
              </a:r>
              <a:endParaRPr lang="en-US" sz="6400" b="1">
                <a:solidFill>
                  <a:srgbClr val="94DDDE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206868"/>
              <a:ext cx="8834996" cy="20870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60"/>
                </a:lnSpc>
              </a:pPr>
              <a:r>
                <a:rPr lang="en-US" sz="2900" spc="579">
                  <a:solidFill>
                    <a:srgbClr val="94DDDE"/>
                  </a:solidFill>
                  <a:latin typeface="Josefin Sans" panose="00000500000000000000"/>
                  <a:ea typeface="Josefin Sans" panose="00000500000000000000"/>
                  <a:cs typeface="Josefin Sans" panose="00000500000000000000"/>
                  <a:sym typeface="Josefin Sans" panose="00000500000000000000"/>
                </a:rPr>
                <a:t>IDENTIFIKASI JENIS MALWARE &amp; VERIFIKASI SIGNATURE</a:t>
              </a:r>
              <a:endParaRPr lang="en-US" sz="2900" spc="579">
                <a:solidFill>
                  <a:srgbClr val="94DDDE"/>
                </a:solidFill>
                <a:latin typeface="Josefin Sans" panose="00000500000000000000"/>
                <a:ea typeface="Josefin Sans" panose="00000500000000000000"/>
                <a:cs typeface="Josefin Sans" panose="00000500000000000000"/>
                <a:sym typeface="Josefin Sans" panose="00000500000000000000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9144000" y="1761460"/>
            <a:ext cx="7714897" cy="1905941"/>
            <a:chOff x="0" y="0"/>
            <a:chExt cx="10286529" cy="2541254"/>
          </a:xfrm>
        </p:grpSpPr>
        <p:sp>
          <p:nvSpPr>
            <p:cNvPr id="6" name="TextBox 6"/>
            <p:cNvSpPr txBox="1"/>
            <p:nvPr/>
          </p:nvSpPr>
          <p:spPr>
            <a:xfrm>
              <a:off x="0" y="-57150"/>
              <a:ext cx="10286529" cy="6226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20"/>
                </a:lnSpc>
              </a:pPr>
              <a:r>
                <a:rPr lang="en-US" sz="2800" b="1">
                  <a:solidFill>
                    <a:srgbClr val="FF914D"/>
                  </a:solidFill>
                  <a:latin typeface="Josefin Sans Bold" panose="00000800000000000000"/>
                  <a:ea typeface="Josefin Sans Bold" panose="00000800000000000000"/>
                  <a:cs typeface="Josefin Sans Bold" panose="00000800000000000000"/>
                  <a:sym typeface="Josefin Sans Bold" panose="00000800000000000000"/>
                </a:rPr>
                <a:t>Kategori Malware</a:t>
              </a:r>
              <a:endParaRPr lang="en-US" sz="2800" b="1">
                <a:solidFill>
                  <a:srgbClr val="FF914D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879724"/>
              <a:ext cx="10286529" cy="16615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400">
                  <a:solidFill>
                    <a:srgbClr val="FEFEFE"/>
                  </a:solidFill>
                  <a:latin typeface="Josefin Sans" panose="00000500000000000000"/>
                  <a:ea typeface="Josefin Sans" panose="00000500000000000000"/>
                  <a:cs typeface="Josefin Sans" panose="00000500000000000000"/>
                  <a:sym typeface="Josefin Sans" panose="00000500000000000000"/>
                </a:rPr>
                <a:t>M</a:t>
              </a:r>
              <a:r>
                <a:rPr lang="en-US" sz="2400">
                  <a:solidFill>
                    <a:srgbClr val="FEFEFE"/>
                  </a:solidFill>
                  <a:latin typeface="Josefin Sans" panose="00000500000000000000"/>
                  <a:ea typeface="Josefin Sans" panose="00000500000000000000"/>
                  <a:cs typeface="Josefin Sans" panose="00000500000000000000"/>
                  <a:sym typeface="Josefin Sans" panose="00000500000000000000"/>
                </a:rPr>
                <a:t>engidentifikasi jenis malware seperti Trojan, Ransomware, atau Spyware berdasarkan karakteristik dan perilakunya.</a:t>
              </a:r>
              <a:endParaRPr lang="en-US" sz="2400">
                <a:solidFill>
                  <a:srgbClr val="FEFEFE"/>
                </a:solidFill>
                <a:latin typeface="Josefin Sans" panose="00000500000000000000"/>
                <a:ea typeface="Josefin Sans" panose="00000500000000000000"/>
                <a:cs typeface="Josefin Sans" panose="00000500000000000000"/>
                <a:sym typeface="Josefin Sans" panose="00000500000000000000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9144000" y="4191276"/>
            <a:ext cx="7714897" cy="1905941"/>
            <a:chOff x="0" y="0"/>
            <a:chExt cx="10286529" cy="2541254"/>
          </a:xfrm>
        </p:grpSpPr>
        <p:sp>
          <p:nvSpPr>
            <p:cNvPr id="9" name="TextBox 9"/>
            <p:cNvSpPr txBox="1"/>
            <p:nvPr/>
          </p:nvSpPr>
          <p:spPr>
            <a:xfrm>
              <a:off x="0" y="-57150"/>
              <a:ext cx="10286529" cy="6226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20"/>
                </a:lnSpc>
              </a:pPr>
              <a:r>
                <a:rPr lang="en-US" sz="2800" b="1">
                  <a:solidFill>
                    <a:srgbClr val="FF914D"/>
                  </a:solidFill>
                  <a:latin typeface="Josefin Sans Bold" panose="00000800000000000000"/>
                  <a:ea typeface="Josefin Sans Bold" panose="00000800000000000000"/>
                  <a:cs typeface="Josefin Sans Bold" panose="00000800000000000000"/>
                  <a:sym typeface="Josefin Sans Bold" panose="00000800000000000000"/>
                </a:rPr>
                <a:t>Database Signature</a:t>
              </a:r>
              <a:endParaRPr lang="en-US" sz="2800" b="1">
                <a:solidFill>
                  <a:srgbClr val="FF914D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879724"/>
              <a:ext cx="10286529" cy="16615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400">
                  <a:solidFill>
                    <a:srgbClr val="FEFEFE"/>
                  </a:solidFill>
                  <a:latin typeface="Josefin Sans" panose="00000500000000000000"/>
                  <a:ea typeface="Josefin Sans" panose="00000500000000000000"/>
                  <a:cs typeface="Josefin Sans" panose="00000500000000000000"/>
                  <a:sym typeface="Josefin Sans" panose="00000500000000000000"/>
                </a:rPr>
                <a:t>M</a:t>
              </a:r>
              <a:r>
                <a:rPr lang="en-US" sz="2400">
                  <a:solidFill>
                    <a:srgbClr val="FEFEFE"/>
                  </a:solidFill>
                  <a:latin typeface="Josefin Sans" panose="00000500000000000000"/>
                  <a:ea typeface="Josefin Sans" panose="00000500000000000000"/>
                  <a:cs typeface="Josefin Sans" panose="00000500000000000000"/>
                  <a:sym typeface="Josefin Sans" panose="00000500000000000000"/>
                </a:rPr>
                <a:t>embandingkan sampel dengan database signature untuk menemukan kecocokan dan memperkuat hasil identifikasi.</a:t>
              </a:r>
              <a:endParaRPr lang="en-US" sz="2400">
                <a:solidFill>
                  <a:srgbClr val="FEFEFE"/>
                </a:solidFill>
                <a:latin typeface="Josefin Sans" panose="00000500000000000000"/>
                <a:ea typeface="Josefin Sans" panose="00000500000000000000"/>
                <a:cs typeface="Josefin Sans" panose="00000500000000000000"/>
                <a:sym typeface="Josefin Sans" panose="00000500000000000000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 rot="0">
            <a:off x="9144000" y="6619599"/>
            <a:ext cx="7714897" cy="1905941"/>
            <a:chOff x="0" y="0"/>
            <a:chExt cx="10286529" cy="2541254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57150"/>
              <a:ext cx="10286529" cy="6226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20"/>
                </a:lnSpc>
              </a:pPr>
              <a:r>
                <a:rPr lang="en-US" sz="2800" b="1">
                  <a:solidFill>
                    <a:srgbClr val="FF914D"/>
                  </a:solidFill>
                  <a:latin typeface="Josefin Sans Bold" panose="00000800000000000000"/>
                  <a:ea typeface="Josefin Sans Bold" panose="00000800000000000000"/>
                  <a:cs typeface="Josefin Sans Bold" panose="00000800000000000000"/>
                  <a:sym typeface="Josefin Sans Bold" panose="00000800000000000000"/>
                </a:rPr>
                <a:t>Validasi Hasil Analisis</a:t>
              </a:r>
              <a:endParaRPr lang="en-US" sz="2800" b="1">
                <a:solidFill>
                  <a:srgbClr val="FF914D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879724"/>
              <a:ext cx="10286529" cy="16615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400">
                  <a:solidFill>
                    <a:srgbClr val="FEFEFE"/>
                  </a:solidFill>
                  <a:latin typeface="Josefin Sans" panose="00000500000000000000"/>
                  <a:ea typeface="Josefin Sans" panose="00000500000000000000"/>
                  <a:cs typeface="Josefin Sans" panose="00000500000000000000"/>
                  <a:sym typeface="Josefin Sans" panose="00000500000000000000"/>
                </a:rPr>
                <a:t>Melakukan ver</a:t>
              </a:r>
              <a:r>
                <a:rPr lang="en-US" sz="2400">
                  <a:solidFill>
                    <a:srgbClr val="FEFEFE"/>
                  </a:solidFill>
                  <a:latin typeface="Josefin Sans" panose="00000500000000000000"/>
                  <a:ea typeface="Josefin Sans" panose="00000500000000000000"/>
                  <a:cs typeface="Josefin Sans" panose="00000500000000000000"/>
                  <a:sym typeface="Josefin Sans" panose="00000500000000000000"/>
                </a:rPr>
                <a:t>ifikasi ulang terhadap temuan untuk memastikan akurasi dan menghindari kesalahan klasifikasi.</a:t>
              </a:r>
              <a:endParaRPr lang="en-US" sz="2400">
                <a:solidFill>
                  <a:srgbClr val="FEFEFE"/>
                </a:solidFill>
                <a:latin typeface="Josefin Sans" panose="00000500000000000000"/>
                <a:ea typeface="Josefin Sans" panose="00000500000000000000"/>
                <a:cs typeface="Josefin Sans" panose="00000500000000000000"/>
                <a:sym typeface="Josefin Sans" panose="00000500000000000000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4385" y="1324264"/>
            <a:ext cx="9768230" cy="1962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400" b="1">
                <a:solidFill>
                  <a:srgbClr val="31356E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PEMBERSIHAN DAN REVERTING</a:t>
            </a:r>
            <a:endParaRPr lang="en-US" sz="6400" b="1">
              <a:solidFill>
                <a:srgbClr val="31356E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144385" y="3990861"/>
            <a:ext cx="9358913" cy="447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b="1">
                <a:solidFill>
                  <a:srgbClr val="3A271A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Revert to Snapshot</a:t>
            </a:r>
            <a:endParaRPr lang="en-US" sz="2900" b="1">
              <a:solidFill>
                <a:srgbClr val="3A271A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144385" y="7077225"/>
            <a:ext cx="9358913" cy="447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b="1">
                <a:solidFill>
                  <a:srgbClr val="3A271A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Integritas Snapshot</a:t>
            </a:r>
            <a:endParaRPr lang="en-US" sz="2900" b="1">
              <a:solidFill>
                <a:srgbClr val="3A271A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44385" y="7505917"/>
            <a:ext cx="9358913" cy="743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>
                <a:solidFill>
                  <a:srgbClr val="2B4B82"/>
                </a:solidFill>
                <a:latin typeface="Josefin Sans" panose="00000500000000000000"/>
                <a:ea typeface="Josefin Sans" panose="00000500000000000000"/>
                <a:cs typeface="Josefin Sans" panose="00000500000000000000"/>
                <a:sym typeface="Josefin Sans" panose="00000500000000000000"/>
              </a:rPr>
              <a:t>Memastikan snapshot tetap valid, steril, dan siap digunakan kembali untuk proses analisis berikutnya.</a:t>
            </a:r>
            <a:endParaRPr lang="en-US" sz="2400">
              <a:solidFill>
                <a:srgbClr val="2B4B82"/>
              </a:solidFill>
              <a:latin typeface="Josefin Sans" panose="00000500000000000000"/>
              <a:ea typeface="Josefin Sans" panose="00000500000000000000"/>
              <a:cs typeface="Josefin Sans" panose="00000500000000000000"/>
              <a:sym typeface="Josefin Sans" panose="00000500000000000000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2624384" y="1028700"/>
            <a:ext cx="3489749" cy="2861594"/>
          </a:xfrm>
          <a:custGeom>
            <a:avLst/>
            <a:gdLst/>
            <a:ahLst/>
            <a:cxnLst/>
            <a:rect l="l" t="t" r="r" b="b"/>
            <a:pathLst>
              <a:path w="3489749" h="2861594">
                <a:moveTo>
                  <a:pt x="0" y="0"/>
                </a:moveTo>
                <a:lnTo>
                  <a:pt x="3489749" y="0"/>
                </a:lnTo>
                <a:lnTo>
                  <a:pt x="3489749" y="2861594"/>
                </a:lnTo>
                <a:lnTo>
                  <a:pt x="0" y="286159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263415" y="4263674"/>
            <a:ext cx="4618653" cy="4114800"/>
          </a:xfrm>
          <a:custGeom>
            <a:avLst/>
            <a:gdLst/>
            <a:ahLst/>
            <a:cxnLst/>
            <a:rect l="l" t="t" r="r" b="b"/>
            <a:pathLst>
              <a:path w="4618653" h="4114800">
                <a:moveTo>
                  <a:pt x="0" y="0"/>
                </a:moveTo>
                <a:lnTo>
                  <a:pt x="4618653" y="0"/>
                </a:lnTo>
                <a:lnTo>
                  <a:pt x="46186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44385" y="5534043"/>
            <a:ext cx="9358913" cy="447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b="1">
                <a:solidFill>
                  <a:srgbClr val="3A271A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Pembersihan Malware</a:t>
            </a:r>
            <a:endParaRPr lang="en-US" sz="2900" b="1">
              <a:solidFill>
                <a:srgbClr val="3A271A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44385" y="4419552"/>
            <a:ext cx="9358913" cy="743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>
                <a:solidFill>
                  <a:srgbClr val="2B4B82"/>
                </a:solidFill>
                <a:latin typeface="Josefin Sans" panose="00000500000000000000"/>
                <a:ea typeface="Josefin Sans" panose="00000500000000000000"/>
                <a:cs typeface="Josefin Sans" panose="00000500000000000000"/>
                <a:sym typeface="Josefin Sans" panose="00000500000000000000"/>
              </a:rPr>
              <a:t>Me</a:t>
            </a:r>
            <a:r>
              <a:rPr lang="en-US" sz="2400">
                <a:solidFill>
                  <a:srgbClr val="2B4B82"/>
                </a:solidFill>
                <a:latin typeface="Josefin Sans" panose="00000500000000000000"/>
                <a:ea typeface="Josefin Sans" panose="00000500000000000000"/>
                <a:cs typeface="Josefin Sans" panose="00000500000000000000"/>
                <a:sym typeface="Josefin Sans" panose="00000500000000000000"/>
              </a:rPr>
              <a:t>ngembalikan sistem ke kondisi awal untuk memastikan lingkungan analisis kembali bersih dan aman.</a:t>
            </a:r>
            <a:endParaRPr lang="en-US" sz="2400">
              <a:solidFill>
                <a:srgbClr val="2B4B82"/>
              </a:solidFill>
              <a:latin typeface="Josefin Sans" panose="00000500000000000000"/>
              <a:ea typeface="Josefin Sans" panose="00000500000000000000"/>
              <a:cs typeface="Josefin Sans" panose="00000500000000000000"/>
              <a:sym typeface="Josefin Sans" panose="000005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44385" y="5962734"/>
            <a:ext cx="9358913" cy="743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>
                <a:solidFill>
                  <a:srgbClr val="2B4B82"/>
                </a:solidFill>
                <a:latin typeface="Josefin Sans" panose="00000500000000000000"/>
                <a:ea typeface="Josefin Sans" panose="00000500000000000000"/>
                <a:cs typeface="Josefin Sans" panose="00000500000000000000"/>
                <a:sym typeface="Josefin Sans" panose="00000500000000000000"/>
              </a:rPr>
              <a:t>Me</a:t>
            </a:r>
            <a:r>
              <a:rPr lang="en-US" sz="2400">
                <a:solidFill>
                  <a:srgbClr val="2B4B82"/>
                </a:solidFill>
                <a:latin typeface="Josefin Sans" panose="00000500000000000000"/>
                <a:ea typeface="Josefin Sans" panose="00000500000000000000"/>
                <a:cs typeface="Josefin Sans" panose="00000500000000000000"/>
                <a:sym typeface="Josefin Sans" panose="00000500000000000000"/>
              </a:rPr>
              <a:t>nghapus seluruh artefak malware yang tersisa agar tidak mempengaruhi analisis selanjutnya.</a:t>
            </a:r>
            <a:endParaRPr lang="en-US" sz="2400">
              <a:solidFill>
                <a:srgbClr val="2B4B82"/>
              </a:solidFill>
              <a:latin typeface="Josefin Sans" panose="00000500000000000000"/>
              <a:ea typeface="Josefin Sans" panose="00000500000000000000"/>
              <a:cs typeface="Josefin Sans" panose="00000500000000000000"/>
              <a:sym typeface="Josefin Sans" panose="0000050000000000000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873215" y="1019175"/>
            <a:ext cx="7081575" cy="2466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8100" b="1">
                <a:solidFill>
                  <a:srgbClr val="F7B4A7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Dokumentasi Temuan</a:t>
            </a:r>
            <a:endParaRPr lang="en-US" sz="8100" b="1">
              <a:solidFill>
                <a:srgbClr val="F7B4A7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873215" y="3415863"/>
            <a:ext cx="11471911" cy="409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000" spc="240">
                <a:solidFill>
                  <a:srgbClr val="94DDDE"/>
                </a:solidFill>
                <a:latin typeface="Josefin Sans" panose="00000500000000000000"/>
                <a:ea typeface="Josefin Sans" panose="00000500000000000000"/>
                <a:cs typeface="Josefin Sans" panose="00000500000000000000"/>
                <a:sym typeface="Josefin Sans" panose="00000500000000000000"/>
              </a:rPr>
              <a:t>PENYUSUNAN LAPORAN ANALISIS &amp; PENGUMPULAN BUKTI</a:t>
            </a:r>
            <a:endParaRPr lang="en-US" sz="2000" spc="240">
              <a:solidFill>
                <a:srgbClr val="94DDDE"/>
              </a:solidFill>
              <a:latin typeface="Josefin Sans" panose="00000500000000000000"/>
              <a:ea typeface="Josefin Sans" panose="00000500000000000000"/>
              <a:cs typeface="Josefin Sans" panose="00000500000000000000"/>
              <a:sym typeface="Josefin Sans" panose="00000500000000000000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028700" y="1992486"/>
            <a:ext cx="3698382" cy="4889688"/>
          </a:xfrm>
          <a:custGeom>
            <a:avLst/>
            <a:gdLst/>
            <a:ahLst/>
            <a:cxnLst/>
            <a:rect l="l" t="t" r="r" b="b"/>
            <a:pathLst>
              <a:path w="3698382" h="4889688">
                <a:moveTo>
                  <a:pt x="0" y="0"/>
                </a:moveTo>
                <a:lnTo>
                  <a:pt x="3698382" y="0"/>
                </a:lnTo>
                <a:lnTo>
                  <a:pt x="3698382" y="4889688"/>
                </a:lnTo>
                <a:lnTo>
                  <a:pt x="0" y="488968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051213" y="2747262"/>
            <a:ext cx="3698382" cy="4889688"/>
          </a:xfrm>
          <a:custGeom>
            <a:avLst/>
            <a:gdLst/>
            <a:ahLst/>
            <a:cxnLst/>
            <a:rect l="l" t="t" r="r" b="b"/>
            <a:pathLst>
              <a:path w="3698382" h="4889688">
                <a:moveTo>
                  <a:pt x="0" y="0"/>
                </a:moveTo>
                <a:lnTo>
                  <a:pt x="3698381" y="0"/>
                </a:lnTo>
                <a:lnTo>
                  <a:pt x="3698381" y="4889688"/>
                </a:lnTo>
                <a:lnTo>
                  <a:pt x="0" y="48896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079246" y="3404826"/>
            <a:ext cx="3698382" cy="4889688"/>
          </a:xfrm>
          <a:custGeom>
            <a:avLst/>
            <a:gdLst/>
            <a:ahLst/>
            <a:cxnLst/>
            <a:rect l="l" t="t" r="r" b="b"/>
            <a:pathLst>
              <a:path w="3698382" h="4889688">
                <a:moveTo>
                  <a:pt x="0" y="0"/>
                </a:moveTo>
                <a:lnTo>
                  <a:pt x="3698382" y="0"/>
                </a:lnTo>
                <a:lnTo>
                  <a:pt x="3698382" y="4889688"/>
                </a:lnTo>
                <a:lnTo>
                  <a:pt x="0" y="48896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873215" y="4456500"/>
            <a:ext cx="9358913" cy="447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b="1">
                <a:solidFill>
                  <a:srgbClr val="FF914D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Catat IOC (Indicators of Compromise)</a:t>
            </a:r>
            <a:endParaRPr lang="en-US" sz="2900" b="1">
              <a:solidFill>
                <a:srgbClr val="FF914D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873215" y="7542864"/>
            <a:ext cx="9358913" cy="447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b="1">
                <a:solidFill>
                  <a:srgbClr val="FF914D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Buk</a:t>
            </a:r>
            <a:r>
              <a:rPr lang="en-US" sz="2900" b="1">
                <a:solidFill>
                  <a:srgbClr val="FF914D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ti Visual Krusial</a:t>
            </a:r>
            <a:endParaRPr lang="en-US" sz="2900" b="1">
              <a:solidFill>
                <a:srgbClr val="FF914D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873215" y="8009656"/>
            <a:ext cx="9358913" cy="743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>
                <a:solidFill>
                  <a:srgbClr val="EFEFEF"/>
                </a:solidFill>
                <a:latin typeface="Josefin Sans" panose="00000500000000000000"/>
                <a:ea typeface="Josefin Sans" panose="00000500000000000000"/>
                <a:cs typeface="Josefin Sans" panose="00000500000000000000"/>
                <a:sym typeface="Josefin Sans" panose="00000500000000000000"/>
              </a:rPr>
              <a:t>Mendokumentasikan aktivitas penting melalui screenshot sebagai bukti selama proses analisis.</a:t>
            </a:r>
            <a:endParaRPr lang="en-US" sz="2400">
              <a:solidFill>
                <a:srgbClr val="EFEFEF"/>
              </a:solidFill>
              <a:latin typeface="Josefin Sans" panose="00000500000000000000"/>
              <a:ea typeface="Josefin Sans" panose="00000500000000000000"/>
              <a:cs typeface="Josefin Sans" panose="00000500000000000000"/>
              <a:sym typeface="Josefin Sans" panose="000005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873215" y="5999682"/>
            <a:ext cx="9358913" cy="447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b="1">
                <a:solidFill>
                  <a:srgbClr val="FF914D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Vi</a:t>
            </a:r>
            <a:r>
              <a:rPr lang="en-US" sz="2900" b="1">
                <a:solidFill>
                  <a:srgbClr val="FF914D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rPr>
              <a:t>sualisasi Alur Kerja</a:t>
            </a:r>
            <a:endParaRPr lang="en-US" sz="2900" b="1">
              <a:solidFill>
                <a:srgbClr val="FF914D"/>
              </a:solidFill>
              <a:latin typeface="Josefin Sans Bold" panose="00000800000000000000"/>
              <a:ea typeface="Josefin Sans Bold" panose="00000800000000000000"/>
              <a:cs typeface="Josefin Sans Bold" panose="00000800000000000000"/>
              <a:sym typeface="Josefin Sans Bold" panose="000008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873215" y="4923291"/>
            <a:ext cx="9358913" cy="743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>
                <a:solidFill>
                  <a:srgbClr val="EFEFEF"/>
                </a:solidFill>
                <a:latin typeface="Josefin Sans" panose="00000500000000000000"/>
                <a:ea typeface="Josefin Sans" panose="00000500000000000000"/>
                <a:cs typeface="Josefin Sans" panose="00000500000000000000"/>
                <a:sym typeface="Josefin Sans" panose="00000500000000000000"/>
              </a:rPr>
              <a:t>Me</a:t>
            </a:r>
            <a:r>
              <a:rPr lang="en-US" sz="2400">
                <a:solidFill>
                  <a:srgbClr val="EFEFEF"/>
                </a:solidFill>
                <a:latin typeface="Josefin Sans" panose="00000500000000000000"/>
                <a:ea typeface="Josefin Sans" panose="00000500000000000000"/>
                <a:cs typeface="Josefin Sans" panose="00000500000000000000"/>
                <a:sym typeface="Josefin Sans" panose="00000500000000000000"/>
              </a:rPr>
              <a:t>ngidentifikasi artefak penting seperti hash file, IP address, dan registry key yang terkait dengan aktivitas malware.</a:t>
            </a:r>
            <a:endParaRPr lang="en-US" sz="2400">
              <a:solidFill>
                <a:srgbClr val="EFEFEF"/>
              </a:solidFill>
              <a:latin typeface="Josefin Sans" panose="00000500000000000000"/>
              <a:ea typeface="Josefin Sans" panose="00000500000000000000"/>
              <a:cs typeface="Josefin Sans" panose="00000500000000000000"/>
              <a:sym typeface="Josefin Sans" panose="000005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873215" y="6466473"/>
            <a:ext cx="9358913" cy="743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>
                <a:solidFill>
                  <a:srgbClr val="EFEFEF"/>
                </a:solidFill>
                <a:latin typeface="Josefin Sans" panose="00000500000000000000"/>
                <a:ea typeface="Josefin Sans" panose="00000500000000000000"/>
                <a:cs typeface="Josefin Sans" panose="00000500000000000000"/>
                <a:sym typeface="Josefin Sans" panose="00000500000000000000"/>
              </a:rPr>
              <a:t>Membuat dia</a:t>
            </a:r>
            <a:r>
              <a:rPr lang="en-US" sz="2400">
                <a:solidFill>
                  <a:srgbClr val="EFEFEF"/>
                </a:solidFill>
                <a:latin typeface="Josefin Sans" panose="00000500000000000000"/>
                <a:ea typeface="Josefin Sans" panose="00000500000000000000"/>
                <a:cs typeface="Josefin Sans" panose="00000500000000000000"/>
                <a:sym typeface="Josefin Sans" panose="00000500000000000000"/>
              </a:rPr>
              <a:t>gram untuk memetakan alur eksekusi dan perilaku malware secara jelas.</a:t>
            </a:r>
            <a:endParaRPr lang="en-US" sz="2400">
              <a:solidFill>
                <a:srgbClr val="EFEFEF"/>
              </a:solidFill>
              <a:latin typeface="Josefin Sans" panose="00000500000000000000"/>
              <a:ea typeface="Josefin Sans" panose="00000500000000000000"/>
              <a:cs typeface="Josefin Sans" panose="00000500000000000000"/>
              <a:sym typeface="Josefin Sans" panose="0000050000000000000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526102" y="2120551"/>
            <a:ext cx="10578305" cy="6062980"/>
            <a:chOff x="0" y="0"/>
            <a:chExt cx="14104407" cy="8083973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14104407" cy="6562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6480"/>
                </a:lnSpc>
              </a:pPr>
              <a:r>
                <a:rPr lang="en-US" sz="5400" b="1">
                  <a:solidFill>
                    <a:srgbClr val="F7B4A7"/>
                  </a:solidFill>
                  <a:latin typeface="Josefin Sans Bold" panose="00000800000000000000"/>
                  <a:ea typeface="Josefin Sans Bold" panose="00000800000000000000"/>
                  <a:cs typeface="Josefin Sans Bold" panose="00000800000000000000"/>
                  <a:sym typeface="Josefin Sans Bold" panose="00000800000000000000"/>
                </a:rPr>
                <a:t>"Teknologi itu seperti pisau bermata dua, bisa jadi alat masak atau kadang juga untuk makan steak. </a:t>
              </a:r>
              <a:r>
                <a:rPr lang="en-US" sz="5400" b="1">
                  <a:solidFill>
                    <a:srgbClr val="FFDE59"/>
                  </a:solidFill>
                  <a:latin typeface="Josefin Sans Bold" panose="00000800000000000000"/>
                  <a:ea typeface="Josefin Sans Bold" panose="00000800000000000000"/>
                  <a:cs typeface="Josefin Sans Bold" panose="00000800000000000000"/>
                  <a:sym typeface="Josefin Sans Bold" panose="00000800000000000000"/>
                </a:rPr>
                <a:t>Intinya</a:t>
              </a:r>
              <a:r>
                <a:rPr lang="en-US" sz="5400" b="1">
                  <a:solidFill>
                    <a:srgbClr val="F7B4A7"/>
                  </a:solidFill>
                  <a:latin typeface="Josefin Sans Bold" panose="00000800000000000000"/>
                  <a:ea typeface="Josefin Sans Bold" panose="00000800000000000000"/>
                  <a:cs typeface="Josefin Sans Bold" panose="00000800000000000000"/>
                  <a:sym typeface="Josefin Sans Bold" panose="00000800000000000000"/>
                </a:rPr>
                <a:t> </a:t>
              </a:r>
              <a:r>
                <a:rPr lang="en-US" sz="5400" b="1">
                  <a:solidFill>
                    <a:srgbClr val="FF914D"/>
                  </a:solidFill>
                  <a:latin typeface="Josefin Sans Bold" panose="00000800000000000000"/>
                  <a:ea typeface="Josefin Sans Bold" panose="00000800000000000000"/>
                  <a:cs typeface="Josefin Sans Bold" panose="00000800000000000000"/>
                  <a:sym typeface="Josefin Sans Bold" panose="00000800000000000000"/>
                </a:rPr>
                <a:t>Asikin aja, jangan terlalu dibuat pusing quote-nya"</a:t>
              </a:r>
              <a:endParaRPr lang="en-US" sz="5400" b="1">
                <a:solidFill>
                  <a:srgbClr val="FF914D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7461250"/>
              <a:ext cx="14104407" cy="6227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920"/>
                </a:lnSpc>
              </a:pPr>
              <a:r>
                <a:rPr lang="en-US" sz="2800" spc="560">
                  <a:solidFill>
                    <a:srgbClr val="F7B4A7"/>
                  </a:solidFill>
                  <a:latin typeface="Josefin Sans" panose="00000500000000000000"/>
                  <a:ea typeface="Josefin Sans" panose="00000500000000000000"/>
                  <a:cs typeface="Josefin Sans" panose="00000500000000000000"/>
                  <a:sym typeface="Josefin Sans" panose="00000500000000000000"/>
                </a:rPr>
                <a:t>ESREVER TEAM</a:t>
              </a:r>
              <a:endParaRPr lang="en-US" sz="2800" spc="560">
                <a:solidFill>
                  <a:srgbClr val="F7B4A7"/>
                </a:solidFill>
                <a:latin typeface="Josefin Sans" panose="00000500000000000000"/>
                <a:ea typeface="Josefin Sans" panose="00000500000000000000"/>
                <a:cs typeface="Josefin Sans" panose="00000500000000000000"/>
                <a:sym typeface="Josefin Sans" panose="00000500000000000000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13001822" y="1710976"/>
            <a:ext cx="3662625" cy="5642699"/>
          </a:xfrm>
          <a:custGeom>
            <a:avLst/>
            <a:gdLst/>
            <a:ahLst/>
            <a:cxnLst/>
            <a:rect l="l" t="t" r="r" b="b"/>
            <a:pathLst>
              <a:path w="3662625" h="5642699">
                <a:moveTo>
                  <a:pt x="0" y="0"/>
                </a:moveTo>
                <a:lnTo>
                  <a:pt x="3662625" y="0"/>
                </a:lnTo>
                <a:lnTo>
                  <a:pt x="3662625" y="5642699"/>
                </a:lnTo>
                <a:lnTo>
                  <a:pt x="0" y="564269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565158" y="3171333"/>
            <a:ext cx="7312717" cy="3944334"/>
            <a:chOff x="0" y="0"/>
            <a:chExt cx="9750289" cy="5259112"/>
          </a:xfrm>
        </p:grpSpPr>
        <p:sp>
          <p:nvSpPr>
            <p:cNvPr id="3" name="TextBox 3"/>
            <p:cNvSpPr txBox="1"/>
            <p:nvPr/>
          </p:nvSpPr>
          <p:spPr>
            <a:xfrm>
              <a:off x="0" y="180975"/>
              <a:ext cx="9750289" cy="27112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520"/>
                </a:lnSpc>
              </a:pPr>
              <a:r>
                <a:rPr lang="en-US" sz="8000" b="1" spc="-88">
                  <a:solidFill>
                    <a:srgbClr val="2B4B82"/>
                  </a:solidFill>
                  <a:latin typeface="Josefin Sans Bold" panose="00000800000000000000"/>
                  <a:ea typeface="Josefin Sans Bold" panose="00000800000000000000"/>
                  <a:cs typeface="Josefin Sans Bold" panose="00000800000000000000"/>
                  <a:sym typeface="Josefin Sans Bold" panose="00000800000000000000"/>
                </a:rPr>
                <a:t>Ada pertanyaan?</a:t>
              </a:r>
              <a:endParaRPr lang="en-US" sz="8000" b="1" spc="-88">
                <a:solidFill>
                  <a:srgbClr val="2B4B82"/>
                </a:solidFill>
                <a:latin typeface="Josefin Sans Bold" panose="00000800000000000000"/>
                <a:ea typeface="Josefin Sans Bold" panose="00000800000000000000"/>
                <a:cs typeface="Josefin Sans Bold" panose="00000800000000000000"/>
                <a:sym typeface="Josefin Sans Bold" panose="0000080000000000000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871460"/>
              <a:ext cx="9750289" cy="13876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2B4B82"/>
                  </a:solidFill>
                  <a:latin typeface="Josefin Sans" panose="00000500000000000000"/>
                  <a:ea typeface="Josefin Sans" panose="00000500000000000000"/>
                  <a:cs typeface="Josefin Sans" panose="00000500000000000000"/>
                  <a:sym typeface="Josefin Sans" panose="00000500000000000000"/>
                </a:rPr>
                <a:t>Kirimkan kepada kami! Semoga Kami mempelajari sesuatu yang baru.</a:t>
              </a:r>
              <a:endParaRPr lang="en-US" sz="3000">
                <a:solidFill>
                  <a:srgbClr val="2B4B82"/>
                </a:solidFill>
                <a:latin typeface="Josefin Sans" panose="00000500000000000000"/>
                <a:ea typeface="Josefin Sans" panose="00000500000000000000"/>
                <a:cs typeface="Josefin Sans" panose="00000500000000000000"/>
                <a:sym typeface="Josefin Sans" panose="00000500000000000000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9854137" y="3018272"/>
            <a:ext cx="7411325" cy="4635447"/>
          </a:xfrm>
          <a:custGeom>
            <a:avLst/>
            <a:gdLst/>
            <a:ahLst/>
            <a:cxnLst/>
            <a:rect l="l" t="t" r="r" b="b"/>
            <a:pathLst>
              <a:path w="7411325" h="4635447">
                <a:moveTo>
                  <a:pt x="0" y="0"/>
                </a:moveTo>
                <a:lnTo>
                  <a:pt x="7411325" y="0"/>
                </a:lnTo>
                <a:lnTo>
                  <a:pt x="7411325" y="4635447"/>
                </a:lnTo>
                <a:lnTo>
                  <a:pt x="0" y="4635447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665100" y="8613636"/>
            <a:ext cx="4338720" cy="2713672"/>
          </a:xfrm>
          <a:custGeom>
            <a:avLst/>
            <a:gdLst/>
            <a:ahLst/>
            <a:cxnLst/>
            <a:rect l="l" t="t" r="r" b="b"/>
            <a:pathLst>
              <a:path w="4338720" h="2713672">
                <a:moveTo>
                  <a:pt x="0" y="0"/>
                </a:moveTo>
                <a:lnTo>
                  <a:pt x="4338720" y="0"/>
                </a:lnTo>
                <a:lnTo>
                  <a:pt x="4338720" y="2713671"/>
                </a:lnTo>
                <a:lnTo>
                  <a:pt x="0" y="271367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976014" y="7483497"/>
            <a:ext cx="3289448" cy="2057400"/>
          </a:xfrm>
          <a:custGeom>
            <a:avLst/>
            <a:gdLst/>
            <a:ahLst/>
            <a:cxnLst/>
            <a:rect l="l" t="t" r="r" b="b"/>
            <a:pathLst>
              <a:path w="3289448" h="2057400">
                <a:moveTo>
                  <a:pt x="0" y="0"/>
                </a:moveTo>
                <a:lnTo>
                  <a:pt x="3289448" y="0"/>
                </a:lnTo>
                <a:lnTo>
                  <a:pt x="328944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320348" y="712171"/>
            <a:ext cx="3289448" cy="2057400"/>
          </a:xfrm>
          <a:custGeom>
            <a:avLst/>
            <a:gdLst/>
            <a:ahLst/>
            <a:cxnLst/>
            <a:rect l="l" t="t" r="r" b="b"/>
            <a:pathLst>
              <a:path w="3289448" h="2057400">
                <a:moveTo>
                  <a:pt x="0" y="0"/>
                </a:moveTo>
                <a:lnTo>
                  <a:pt x="3289448" y="0"/>
                </a:lnTo>
                <a:lnTo>
                  <a:pt x="328944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2855</Words>
  <Application>WPS Presentation</Application>
  <PresentationFormat>On-screen Show (4:3)</PresentationFormat>
  <Paragraphs>151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SimSun</vt:lpstr>
      <vt:lpstr>Wingdings</vt:lpstr>
      <vt:lpstr>Josefin Sans Bold</vt:lpstr>
      <vt:lpstr>Josefin Sans</vt:lpstr>
      <vt:lpstr>Arial</vt:lpstr>
      <vt:lpstr>Open Sans Bold</vt:lpstr>
      <vt:lpstr>Open Sans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 REALLY DONT KNOW HOW TO START THIS ASSIGNMENT BUT WE REALLY WANNA CRY RN</dc:title>
  <dc:creator/>
  <cp:lastModifiedBy>rudih</cp:lastModifiedBy>
  <cp:revision>3</cp:revision>
  <dcterms:created xsi:type="dcterms:W3CDTF">2006-08-16T00:00:00Z</dcterms:created>
  <dcterms:modified xsi:type="dcterms:W3CDTF">2026-06-28T14:16:12Z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E59E4E0ACC984F71990A9C1576BA5308_13</vt:lpwstr>
  </property>
  <property fmtid="{D5CDD505-2E9C-101B-9397-08002B2CF9AE}" pid="3" name="KSOProductBuildVer">
    <vt:lpwstr>1033-12.1.0.26880</vt:lpwstr>
  </property>
</Properties>
</file>